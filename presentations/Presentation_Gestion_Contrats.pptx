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e7a4d2838246a2" /><Relationship Type="http://schemas.openxmlformats.org/officeDocument/2006/relationships/extended-properties" Target="/docProps/app.xml" Id="Rf640dc2e185f4f04" /><Relationship Type="http://schemas.openxmlformats.org/officeDocument/2006/relationships/officeDocument" Target="/ppt/presentation.xml" Id="Rf776588879674f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3d3b1116db44b4"/>
  </p:sldMasterIdLst>
  <p:notesMasterIdLst>
    <p:notesMasterId xmlns:r="http://schemas.openxmlformats.org/officeDocument/2006/relationships" r:id="R3e0be88da9f9416e"/>
  </p:notesMasterIdLst>
  <p:sldIdLst>
    <p:sldId xmlns:r="http://schemas.openxmlformats.org/officeDocument/2006/relationships" id="256" r:id="Raa010fcd2d0d4c77"/>
    <p:sldId xmlns:r="http://schemas.openxmlformats.org/officeDocument/2006/relationships" id="257" r:id="R613514b3b4f5411e"/>
    <p:sldId xmlns:r="http://schemas.openxmlformats.org/officeDocument/2006/relationships" id="258" r:id="R13fcf4a07f9c4cab"/>
    <p:sldId xmlns:r="http://schemas.openxmlformats.org/officeDocument/2006/relationships" id="259" r:id="Rb5394a5311ff49e6"/>
    <p:sldId xmlns:r="http://schemas.openxmlformats.org/officeDocument/2006/relationships" id="260" r:id="R32e4ebea2a2c4a05"/>
    <p:sldId xmlns:r="http://schemas.openxmlformats.org/officeDocument/2006/relationships" id="261" r:id="R3c2fd110ae924e3b"/>
    <p:sldId xmlns:r="http://schemas.openxmlformats.org/officeDocument/2006/relationships" id="262" r:id="R194d21143eec4807"/>
    <p:sldId xmlns:r="http://schemas.openxmlformats.org/officeDocument/2006/relationships" id="263" r:id="R2300650fdd984809"/>
    <p:sldId xmlns:r="http://schemas.openxmlformats.org/officeDocument/2006/relationships" id="264" r:id="R761eb7fc4dc44b7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3d3b1116db44b4" /><Relationship Type="http://schemas.openxmlformats.org/officeDocument/2006/relationships/theme" Target="/ppt/theme/theme1.xml" Id="Rf64dd5803d8d43d6" /><Relationship Type="http://schemas.openxmlformats.org/officeDocument/2006/relationships/notesMaster" Target="/ppt/notesMasters/notesMaster1.xml" Id="R3e0be88da9f9416e" /><Relationship Type="http://schemas.openxmlformats.org/officeDocument/2006/relationships/presProps" Target="/ppt/presProps.xml" Id="Rd36d9ef9e3c4463d" /><Relationship Type="http://schemas.openxmlformats.org/officeDocument/2006/relationships/viewProps" Target="/ppt/viewProps.xml" Id="R255804decce946e0" /><Relationship Type="http://schemas.openxmlformats.org/officeDocument/2006/relationships/tableStyles" Target="/ppt/tableStyles.xml" Id="R28f8033fe6c34c16" /><Relationship Type="http://schemas.openxmlformats.org/officeDocument/2006/relationships/slide" Target="/ppt/slides/slide1.xml" Id="Raa010fcd2d0d4c77" /><Relationship Type="http://schemas.openxmlformats.org/officeDocument/2006/relationships/slide" Target="/ppt/slides/slide2.xml" Id="R613514b3b4f5411e" /><Relationship Type="http://schemas.openxmlformats.org/officeDocument/2006/relationships/slide" Target="/ppt/slides/slide3.xml" Id="R13fcf4a07f9c4cab" /><Relationship Type="http://schemas.openxmlformats.org/officeDocument/2006/relationships/slide" Target="/ppt/slides/slide4.xml" Id="Rb5394a5311ff49e6" /><Relationship Type="http://schemas.openxmlformats.org/officeDocument/2006/relationships/slide" Target="/ppt/slides/slide5.xml" Id="R32e4ebea2a2c4a05" /><Relationship Type="http://schemas.openxmlformats.org/officeDocument/2006/relationships/slide" Target="/ppt/slides/slide6.xml" Id="R3c2fd110ae924e3b" /><Relationship Type="http://schemas.openxmlformats.org/officeDocument/2006/relationships/slide" Target="/ppt/slides/slide7.xml" Id="R194d21143eec4807" /><Relationship Type="http://schemas.openxmlformats.org/officeDocument/2006/relationships/slide" Target="/ppt/slides/slide8.xml" Id="R2300650fdd984809" /><Relationship Type="http://schemas.openxmlformats.org/officeDocument/2006/relationships/slide" Target="/ppt/slides/slide9.xml" Id="R761eb7fc4dc44b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49cd5bf3ad441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3085cec21043a8" /><Relationship Type="http://schemas.openxmlformats.org/officeDocument/2006/relationships/notesMaster" Target="/ppt/notesMasters/notesMaster1.xml" Id="R1667e1fbad4747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c818e747c14a6c" /><Relationship Type="http://schemas.openxmlformats.org/officeDocument/2006/relationships/notesMaster" Target="/ppt/notesMasters/notesMaster1.xml" Id="Re35311b563ab42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9f86fbf6874056" /><Relationship Type="http://schemas.openxmlformats.org/officeDocument/2006/relationships/notesMaster" Target="/ppt/notesMasters/notesMaster1.xml" Id="R72f7789f5953461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4b84b887ef4944" /><Relationship Type="http://schemas.openxmlformats.org/officeDocument/2006/relationships/notesMaster" Target="/ppt/notesMasters/notesMaster1.xml" Id="R8d50e070a94842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45b1eabc104d88" /><Relationship Type="http://schemas.openxmlformats.org/officeDocument/2006/relationships/notesMaster" Target="/ppt/notesMasters/notesMaster1.xml" Id="Rdf983b89fe5141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c599f579f394a7e" /><Relationship Type="http://schemas.openxmlformats.org/officeDocument/2006/relationships/notesMaster" Target="/ppt/notesMasters/notesMaster1.xml" Id="R860bcdc86e6a41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93a4407f7e4056" /><Relationship Type="http://schemas.openxmlformats.org/officeDocument/2006/relationships/notesMaster" Target="/ppt/notesMasters/notesMaster1.xml" Id="Rbe1c9752af54438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989e848063a4220" /><Relationship Type="http://schemas.openxmlformats.org/officeDocument/2006/relationships/notesMaster" Target="/ppt/notesMasters/notesMaster1.xml" Id="R090ff465a7af41c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04b2de8d15b4c6d" /><Relationship Type="http://schemas.openxmlformats.org/officeDocument/2006/relationships/notesMaster" Target="/ppt/notesMasters/notesMaster1.xml" Id="R565c0e3b60f844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44428cda7a4e3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ac8ca1b41614137" /><Relationship Type="http://schemas.openxmlformats.org/officeDocument/2006/relationships/slideLayout" Target="/ppt/slideLayouts/slideLayout2.xml" Id="R6627814397a340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27814397a340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baf138812949cb" /><Relationship Type="http://schemas.openxmlformats.org/officeDocument/2006/relationships/notesSlide" Target="/ppt/notesSlides/notesSlide1.xml" Id="R7672abf9861446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0049ec5ae24416" /><Relationship Type="http://schemas.openxmlformats.org/officeDocument/2006/relationships/notesSlide" Target="/ppt/notesSlides/notesSlide2.xml" Id="Ra1e2da4350fc46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106e5f5c7949af" /><Relationship Type="http://schemas.openxmlformats.org/officeDocument/2006/relationships/notesSlide" Target="/ppt/notesSlides/notesSlide3.xml" Id="Rd3a7b22a5aca40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0cfbb80eb44558" /><Relationship Type="http://schemas.openxmlformats.org/officeDocument/2006/relationships/notesSlide" Target="/ppt/notesSlides/notesSlide4.xml" Id="R6c4d2964f22543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a30f8a3da945fd" /><Relationship Type="http://schemas.openxmlformats.org/officeDocument/2006/relationships/notesSlide" Target="/ppt/notesSlides/notesSlide5.xml" Id="Rb6b446bcc1e94be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16aabaa7a44810" /><Relationship Type="http://schemas.openxmlformats.org/officeDocument/2006/relationships/notesSlide" Target="/ppt/notesSlides/notesSlide6.xml" Id="Ra6938f30137c45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4a80f28e244241" /><Relationship Type="http://schemas.openxmlformats.org/officeDocument/2006/relationships/notesSlide" Target="/ppt/notesSlides/notesSlide7.xml" Id="R72cc0224a3e746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7deed44da0450b" /><Relationship Type="http://schemas.openxmlformats.org/officeDocument/2006/relationships/notesSlide" Target="/ppt/notesSlides/notesSlide8.xml" Id="Ra7975e302b664d8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2b0017ffc4479b" /><Relationship Type="http://schemas.openxmlformats.org/officeDocument/2006/relationships/notesSlide" Target="/ppt/notesSlides/notesSlide9.xml" Id="R390c1ef44770416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0B447B-C6BB-4530-9CC2-44E4DFD8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07918E-3969-4311-BFDB-026F4259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1D5EA9-6999-4B25-9769-42CA264D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0"/>
            <a:ext cx="276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AC646B-9B4A-4362-83D4-D12C0B9C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150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37747B9-C07F-4E0D-9204-0670C18E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C3AFF13-2A8C-41D6-B9BD-EE103203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8B7A6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B7A6"/>
                </a:solidFill>
                <a:latin typeface="Avenir Next"/>
                <a:ea typeface="Avenir Next"/>
                <a:cs typeface="Avenir Next"/>
              </a:rPr>
              <a:t>SOUTENANCE PROJET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A5EB2E-D6D5-4F18-955A-F124EDF3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5905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4350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Gestion</a:t>
            </a:r>
          </a:p>
          <a:p xmlns:a="http://schemas.openxmlformats.org/drawingml/2006/main">
            <a:pPr algn="l">
              <a:defRPr sz="4350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4350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des contrats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721873-8738-40E8-A3F4-6DF947D7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28950"/>
            <a:ext cx="5334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C2D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B9C2D0"/>
                </a:solidFill>
                <a:latin typeface="Avenir Next"/>
                <a:ea typeface="Avenir Next"/>
                <a:cs typeface="Avenir Next"/>
              </a:rPr>
              <a:t>Une application web qui centralise le cycle contrat, sécurise les accès et automatise les liens de signature et d’inscription.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396B42-1E88-4155-9D70-6162DF00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7700"/>
            <a:ext cx="285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AC76DC-97EB-4D6C-9946-8FEAD6E3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285D5B-985D-4D39-99CC-AAE27818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006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B9C2D0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B9C2D0"/>
                </a:solidFill>
                <a:latin typeface="Avenir Next"/>
                <a:ea typeface="Avenir Next"/>
                <a:cs typeface="Avenir Next"/>
              </a:rPr>
              <a:t>couches techniques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1C56EF-B4A4-4C7F-BD8F-3F770B83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457700"/>
            <a:ext cx="285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DA1815-47BD-4965-8462-E05D21FF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4386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1F618A-A614-461E-9E37-AA199ADC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8006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B9C2D0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B9C2D0"/>
                </a:solidFill>
                <a:latin typeface="Avenir Next"/>
                <a:ea typeface="Avenir Next"/>
                <a:cs typeface="Avenir Next"/>
              </a:rPr>
              <a:t>modules backend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30807A-E45A-4FF9-9324-CC7AF77B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57700"/>
            <a:ext cx="285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B15FDF-2E32-4E21-925F-EC54D0BB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386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99C082-4FC4-4103-864E-8AB99F23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8006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B9C2D0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B9C2D0"/>
                </a:solidFill>
                <a:latin typeface="Avenir Next"/>
                <a:ea typeface="Avenir Next"/>
                <a:cs typeface="Avenir Next"/>
              </a:rPr>
              <a:t>routes clés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40C116-FD18-4B2F-9747-435B81C0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02870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2CE481-BFCE-44A0-B1D9-157FCC9E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192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1726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0E1726"/>
                </a:solidFill>
                <a:latin typeface="Georgia"/>
                <a:ea typeface="Georgia"/>
                <a:cs typeface="Georgia"/>
              </a:rPr>
              <a:t>Frontend React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B91363-9472-4404-901F-1A338191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2400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Pages • routes • appels API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0799BF-5E79-4CB7-B5AF-D6B3B187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09550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8C3732-2F50-47A5-8809-FA77CC99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28900"/>
            <a:ext cx="4095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98FD78-B062-440B-956B-2263E668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575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726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0E1726"/>
                </a:solidFill>
                <a:latin typeface="Georgia"/>
                <a:ea typeface="Georgia"/>
                <a:cs typeface="Georgia"/>
              </a:rPr>
              <a:t>API NestJS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235125-2AB4-4E84-95A5-19205ECD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8135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Auth • Users • Contracts • Mail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EBD6C3-4AF2-4367-9494-4E1BF33E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7909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F58DE9-F1A7-4CA1-B5C3-462F50BD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324350"/>
            <a:ext cx="2952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C1A6BA-B0CA-4A1F-97CE-D4E1FACC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5529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1726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0E1726"/>
                </a:solidFill>
                <a:latin typeface="Georgia"/>
                <a:ea typeface="Georgia"/>
                <a:cs typeface="Georgia"/>
              </a:rPr>
              <a:t>PostgreSQL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6B1552-8A64-416A-B08D-26732A2F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85775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Utilisateurs • invitations • contrats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D224D7-6C5F-4F8A-A8DC-4E83EDC3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9C2D0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B9C2D0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3C905E-DC7C-454A-9743-CE9B5312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362700"/>
            <a:ext cx="66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6EEA54-359F-4732-A919-DD2BB3D9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2674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B9C2D0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B9C2D0"/>
                </a:solidFill>
                <a:latin typeface="Avenir Next"/>
                <a:ea typeface="Avenir Next"/>
                <a:cs typeface="Avenir Next"/>
              </a:rPr>
              <a:t>Résumé du document technique</a:t>
            </a:r>
          </a:p>
        </p:txBody>
      </p:sp>
    </p:spTree>
    <p:extLst>
      <p:ext uri="{BB962C8B-B14F-4D97-AF65-F5344CB8AC3E}">
        <p14:creationId xmlns:p14="http://schemas.microsoft.com/office/powerpoint/2010/main" val="17685960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38C024-7A0D-4778-ACCE-13990CD9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581EE3-0AE9-4C49-AEA6-EEA698F2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3F9F96-DD2C-4186-97B0-71BE0738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0"/>
            <a:ext cx="276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4F538A-4E95-48AD-B431-54D7CD69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150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A1B9430-45FD-4743-9F76-AB351E26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222431B-8CC1-46D3-98AE-B948B2C3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8B7A6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B7A6"/>
                </a:solidFill>
                <a:latin typeface="Avenir Next"/>
                <a:ea typeface="Avenir Next"/>
                <a:cs typeface="Avenir Next"/>
              </a:rPr>
              <a:t>PROBLÉMATIQUE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0BE034-CE6F-4605-8B2B-BB2249DE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7620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Le projet répond à trois irritants opérationnels.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F9AEA2-9EF1-4D8D-9127-B1A210A4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C2D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B9C2D0"/>
                </a:solidFill>
                <a:latin typeface="Avenir Next"/>
                <a:ea typeface="Avenir Next"/>
                <a:cs typeface="Avenir Next"/>
              </a:rPr>
              <a:t>Sans outil centralisé, le suivi des contrats, la signature et la gestion des accès deviennent difficiles à contrôler.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967494-D94C-4779-AE77-0CFCE06E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29527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CBBFA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97F06E-CF9A-41E2-A728-0532B77E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47625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248360-93D6-4C58-975D-05579B78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726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E1726"/>
                </a:solidFill>
                <a:latin typeface="Avenir Next"/>
                <a:ea typeface="Avenir Next"/>
                <a:cs typeface="Avenir Next"/>
              </a:rPr>
              <a:t>Suivi dispersé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A7E65A-6C74-4A6E-B52A-BF542B35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33725"/>
            <a:ext cx="26479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Les informations contrat doivent être retrouvées, filtrées et suivies dans un espace unique.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739B8C-3D98-498C-A2CF-E34FEA26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43150"/>
            <a:ext cx="30480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CBBFA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3F2824-B0F8-48A0-8C9F-722FE140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43150"/>
            <a:ext cx="47625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E85076-F442-4EAB-866F-6020D822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76500"/>
            <a:ext cx="2743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726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E1726"/>
                </a:solidFill>
                <a:latin typeface="Avenir Next"/>
                <a:ea typeface="Avenir Next"/>
                <a:cs typeface="Avenir Next"/>
              </a:rPr>
              <a:t>Signature lente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E3A65F-8C1B-4E3F-9CF6-C881B544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52725"/>
            <a:ext cx="27432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Le client doit recevoir un lien public, signer sans compte, puis remettre à jour le statut.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815535-4AE5-4522-BE0A-B3A15DB2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24150"/>
            <a:ext cx="29527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CBBFA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3E35A1-E778-43AC-95BA-2C2061F7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24150"/>
            <a:ext cx="47625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C0CEE3-3164-4C60-B9F1-95D453A8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57500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726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E1726"/>
                </a:solidFill>
                <a:latin typeface="Avenir Next"/>
                <a:ea typeface="Avenir Next"/>
                <a:cs typeface="Avenir Next"/>
              </a:rPr>
              <a:t>Accès sensibles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10DEDD-842F-4654-88D2-6F1F2FF8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33725"/>
            <a:ext cx="26479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L’administrateur doit inviter les utilisateurs et contrôler les rôles sans exposer les mots de passe.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641BF9-57E5-4F7D-B176-F77BB28F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9C2D0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B9C2D0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6FC299-7F7A-44AB-B72A-022356AB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362700"/>
            <a:ext cx="66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1EDB2B-73AF-4A27-9AEF-7F9DE3B2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2674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B9C2D0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B9C2D0"/>
                </a:solidFill>
                <a:latin typeface="Avenir Next"/>
                <a:ea typeface="Avenir Next"/>
                <a:cs typeface="Avenir Next"/>
              </a:rPr>
              <a:t>Pourquoi l’application existe</a:t>
            </a:r>
          </a:p>
        </p:txBody>
      </p:sp>
    </p:spTree>
    <p:extLst>
      <p:ext uri="{BB962C8B-B14F-4D97-AF65-F5344CB8AC3E}">
        <p14:creationId xmlns:p14="http://schemas.microsoft.com/office/powerpoint/2010/main" val="39247517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21A593-71EC-4A6D-945E-F5BB9BC9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46AF5F1-8DC2-4F7D-838D-7434FA3C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0B9246B-B6A6-4BF5-B2B7-96C990E2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A6F67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0A6F67"/>
                </a:solidFill>
                <a:latin typeface="Avenir Next"/>
                <a:ea typeface="Avenir Next"/>
                <a:cs typeface="Avenir Next"/>
              </a:rPr>
              <a:t>PÉRIMÈTRE FONCTIONNEL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0DDBD1-6B49-49AC-AC71-7BEB2CA3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726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0E1726"/>
                </a:solidFill>
                <a:latin typeface="Georgia"/>
                <a:ea typeface="Georgia"/>
                <a:cs typeface="Georgia"/>
              </a:rPr>
              <a:t>Un seul périmètre couvre le cycle contrat et l’administration.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CF5382-98EE-4E41-A332-35590056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17335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BB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4AB212-4389-4B32-9D0F-37A085BD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C81FBF-A881-4ACB-AC90-51A694C2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0325"/>
            <a:ext cx="228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8357C1-47BA-4D8E-A02A-CA044A14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1257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1726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0E1726"/>
                </a:solidFill>
                <a:latin typeface="Georgia"/>
                <a:ea typeface="Georgia"/>
                <a:cs typeface="Georgia"/>
              </a:rPr>
              <a:t>Créer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20FEB6-E5AA-4E26-BDAA-4C851603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35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contrat et client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ED39BA-CBBA-4B2B-849B-B6F2EE7B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861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D698EA-617A-4F0E-B954-E2915C71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718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B7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8B7A6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71344A-0F72-42C2-9A2F-389395F5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43200"/>
            <a:ext cx="17335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BB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A7FCBA-2FF2-41B7-8BCA-0BE3A7FF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146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D0FFCE-E788-48BD-BAE9-A9225769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62275"/>
            <a:ext cx="228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A65B07-4B8B-4493-BB73-B665D700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76600"/>
            <a:ext cx="1257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1726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0E1726"/>
                </a:solidFill>
                <a:latin typeface="Georgia"/>
                <a:ea typeface="Georgia"/>
                <a:cs typeface="Georgia"/>
              </a:rPr>
              <a:t>Notifier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62B2A4-BCAE-4C2E-8E02-95211D75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385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35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email de signature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759627-3042-47A2-AAB0-C4A6CB20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575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55E91C-69F6-4550-8540-3F6E0512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4325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A541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2A541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BEAA5E-0E63-442B-87B0-382A446B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81250"/>
            <a:ext cx="17335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BB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4FF332-3F41-4678-9879-54E8DB6E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527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F58B3D-5770-44E6-BECC-F4BF1B08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00325"/>
            <a:ext cx="228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926363-0E56-446D-BFE5-2B433E78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914650"/>
            <a:ext cx="1257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1726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0E1726"/>
                </a:solidFill>
                <a:latin typeface="Georgia"/>
                <a:ea typeface="Georgia"/>
                <a:cs typeface="Georgia"/>
              </a:rPr>
              <a:t>Signer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72353C-3AD9-4F4E-85A0-D9D26BE6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27660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35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page publique tokenisée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B7A685-F8E0-468D-AB0F-31CB0A4A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861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A6F660-8937-4AA1-8032-EF8DA7FA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9718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5D4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E85D4A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CE9B2D-3BCC-4991-BF39-12057CA1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743200"/>
            <a:ext cx="17335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BB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30EA60-A3A3-41A2-8188-97C319F6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146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D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1CD317-3357-4C85-8C3A-17AF2EEF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962275"/>
            <a:ext cx="228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3A21BB-C8E9-4395-8637-39362AAA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76600"/>
            <a:ext cx="1257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1726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0E1726"/>
                </a:solidFill>
                <a:latin typeface="Georgia"/>
                <a:ea typeface="Georgia"/>
                <a:cs typeface="Georgia"/>
              </a:rPr>
              <a:t>Suivre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07A55A-546D-4ED3-8CDE-B7AAB40D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6385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35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statuts et échéances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E9783E-2F6F-4AB3-BCD2-01A17123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2575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D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50F96D-65AC-4FCE-AB61-619EE990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14325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8DE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5B8DEF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614ED1-72E8-4FFF-AE3B-0E15555F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81250"/>
            <a:ext cx="17335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BB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62C377-8788-4EE5-814B-DD183482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5527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9C3E9F-EE82-483C-BAA3-D9E4AC13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600325"/>
            <a:ext cx="228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D0D4D2-F63A-49A0-A97C-0BEF4C60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14650"/>
            <a:ext cx="1257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1726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0E1726"/>
                </a:solidFill>
                <a:latin typeface="Georgia"/>
                <a:ea typeface="Georgia"/>
                <a:cs typeface="Georgia"/>
              </a:rPr>
              <a:t>Gérer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248F93-F236-4086-AE98-BCA12F7C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27660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35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rôles et invitations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B8BB118-5F06-4FC7-AC7F-71B5AA76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578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8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A81DF46-7C55-43F4-9ECF-C75E0D42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726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0E1726"/>
                </a:solidFill>
                <a:latin typeface="Georgia"/>
                <a:ea typeface="Georgia"/>
                <a:cs typeface="Georgia"/>
              </a:rPr>
              <a:t>Fonctionnalités clés : authentification JWT, CRUD contrats, signature par token, gestion utilisateurs, invitation email, tableau de bord.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D2492CE-A2A6-4C56-A3D9-F103363E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9C2D0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B9C2D0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34BC9D4-8C30-4362-BD26-66F16FEAB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362700"/>
            <a:ext cx="66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828D3DF-BC54-45B9-AE66-4D546E35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2674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B9C2D0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B9C2D0"/>
                </a:solidFill>
                <a:latin typeface="Avenir Next"/>
                <a:ea typeface="Avenir Next"/>
                <a:cs typeface="Avenir Next"/>
              </a:rPr>
              <a:t>Besoins fonctionnels</a:t>
            </a:r>
          </a:p>
        </p:txBody>
      </p:sp>
    </p:spTree>
    <p:extLst>
      <p:ext uri="{BB962C8B-B14F-4D97-AF65-F5344CB8AC3E}">
        <p14:creationId xmlns:p14="http://schemas.microsoft.com/office/powerpoint/2010/main" val="19014379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E7EBFF-05DE-48C5-A827-08DF6EF9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8305FA-8BA1-47A8-B93E-C746BA7A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557D83-A3C8-47F4-8195-2C455A07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0"/>
            <a:ext cx="276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38AFF4-E1B4-45B1-B2F9-EAAECAC4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150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E6B659C-FD0E-426D-950D-81979C92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6A3A5C7-DCD7-4E60-AA71-508E007B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8B7A6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B7A6"/>
                </a:solidFill>
                <a:latin typeface="Avenir Next"/>
                <a:ea typeface="Avenir Next"/>
                <a:cs typeface="Avenir Next"/>
              </a:rPr>
              <a:t>QUALITÉ ATTENDUE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81FB49-B7B4-4D1F-ADB7-4C5935C5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723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Les besoins non fonctionnels</a:t>
            </a:r>
          </a:p>
          <a:p xmlns:a="http://schemas.openxmlformats.org/drawingml/2006/main">
            <a:pPr algn="l">
              <a:defRPr sz="2325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cadrent la mise en production.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DF8129-2249-42F6-BDD4-E24D37ED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21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Sécurité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932846-F63F-412C-A725-5F92EE32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90725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9C2D0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B9C2D0"/>
                </a:solidFill>
                <a:latin typeface="Avenir Next"/>
                <a:ea typeface="Avenir Next"/>
                <a:cs typeface="Avenir Next"/>
              </a:rPr>
              <a:t>bcrypt, JWT, guards, tokens publics aléatoires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D158D2-7F4F-4DA5-BA52-89737ABC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38350"/>
            <a:ext cx="2952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846485-6329-4085-A9D2-9B4245FD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38350"/>
            <a:ext cx="271653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C56F16-E2C9-4CE2-92EA-BFC158EC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952625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C2D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B9C2D0"/>
                </a:solidFill>
                <a:latin typeface="Avenir Next"/>
                <a:ea typeface="Avenir Next"/>
                <a:cs typeface="Avenir Next"/>
              </a:rPr>
              <a:t>92%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0334B9-4A49-4C01-AF94-484051FE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E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21E9E1-1A63-4022-A0AF-0ABCE058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Maintenabilité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E7255C-BC34-4FA5-8816-BAB0A7D1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95575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9C2D0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B9C2D0"/>
                </a:solidFill>
                <a:latin typeface="Avenir Next"/>
                <a:ea typeface="Avenir Next"/>
                <a:cs typeface="Avenir Next"/>
              </a:rPr>
              <a:t>modules NestJS et features React séparés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2FF5E7-BE48-479D-B42F-ED000AAB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43200"/>
            <a:ext cx="2952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65E36F-CE38-427C-89DE-C4E1D40E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43200"/>
            <a:ext cx="224409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80C1A8-CBC0-430B-B4D4-64AF9630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657475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C2D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B9C2D0"/>
                </a:solidFill>
                <a:latin typeface="Avenir Next"/>
                <a:ea typeface="Avenir Next"/>
                <a:cs typeface="Avenir Next"/>
              </a:rPr>
              <a:t>76%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94527D-8BA8-4C6A-939F-FB581CFE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E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13340E-D41B-4826-90D8-D1B9DD33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Configuration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FF371E-82CA-4FE1-829B-4ECB9013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00425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9C2D0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B9C2D0"/>
                </a:solidFill>
                <a:latin typeface="Avenir Next"/>
                <a:ea typeface="Avenir Next"/>
                <a:cs typeface="Avenir Next"/>
              </a:rPr>
              <a:t>variables d’environnement par contexte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62E643-9455-470B-9A3C-45089CAA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48050"/>
            <a:ext cx="2952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46EADD-939F-4C86-8CBF-B37CCB203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48050"/>
            <a:ext cx="200787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D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61CBDC-168A-4AFE-8D3B-4C85074F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362325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C2D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B9C2D0"/>
                </a:solidFill>
                <a:latin typeface="Avenir Next"/>
                <a:ea typeface="Avenir Next"/>
                <a:cs typeface="Avenir Next"/>
              </a:rPr>
              <a:t>68%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B49D55-1346-430B-B42B-E3EE0C14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E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E074F9-DC4B-4C1E-BDA3-87670D60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767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Fiabilité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7F0A5C-D33D-4AD9-80CC-DA3D8B42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05275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9C2D0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B9C2D0"/>
                </a:solidFill>
                <a:latin typeface="Avenir Next"/>
                <a:ea typeface="Avenir Next"/>
                <a:cs typeface="Avenir Next"/>
              </a:rPr>
              <a:t>tests backend et validation DTO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FE08D5-D622-4E02-A437-891BB1D7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52900"/>
            <a:ext cx="2952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A1DD03-48C0-405C-966B-19A22949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52900"/>
            <a:ext cx="171259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CD24B4-A36C-4CBF-9CA9-709AFAFE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067175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C2D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B9C2D0"/>
                </a:solidFill>
                <a:latin typeface="Avenir Next"/>
                <a:ea typeface="Avenir Next"/>
                <a:cs typeface="Avenir Next"/>
              </a:rPr>
              <a:t>58%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117601-AE92-4607-A02F-B844DEB8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E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0BBE45-9F2D-413B-BABF-52BF4DE9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815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Déploiement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25669E-BF59-4849-A414-4961D6A1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10125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9C2D0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B9C2D0"/>
                </a:solidFill>
                <a:latin typeface="Avenir Next"/>
                <a:ea typeface="Avenir Next"/>
                <a:cs typeface="Avenir Next"/>
              </a:rPr>
              <a:t>Vercel côté frontend, DATABASE_URL côté backend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C11A4-0982-4048-BC32-C75ECA65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57750"/>
            <a:ext cx="2952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5EC7EC-AA89-4D8D-997F-F7C3181A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57750"/>
            <a:ext cx="188976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B508AFA-E91E-42FF-944F-993D0364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772025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C2D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B9C2D0"/>
                </a:solidFill>
                <a:latin typeface="Avenir Next"/>
                <a:ea typeface="Avenir Next"/>
                <a:cs typeface="Avenir Next"/>
              </a:rPr>
              <a:t>64%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C1863F-B022-4416-ABCB-13B1FF02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387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E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8920D2A-FB9A-4C35-96EE-9B660018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990600"/>
            <a:ext cx="24288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C"/>
          </a:solidFill>
          <a:ln xmlns:a="http://schemas.openxmlformats.org/drawingml/2006/main" w="9525">
            <a:solidFill>
              <a:srgbClr val="2E415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5ADC3A1-EA8B-47C7-8076-87CF20F5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1811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8B7A6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18B7A6"/>
                </a:solidFill>
                <a:latin typeface="Avenir Next"/>
                <a:ea typeface="Avenir Next"/>
                <a:cs typeface="Avenir Next"/>
              </a:rPr>
              <a:t>Principe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48C74DD-3849-43C0-BBD5-EB3AAC23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409700"/>
            <a:ext cx="18573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9C2D0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B9C2D0"/>
                </a:solidFill>
                <a:latin typeface="Avenir Next"/>
                <a:ea typeface="Avenir Next"/>
                <a:cs typeface="Avenir Next"/>
              </a:rPr>
              <a:t>La qualité n’est pas un bonus : elle conditionne la confiance dans les contrats.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1A999F4-80B3-445B-B0A2-ED739328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9C2D0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B9C2D0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C2BF223-C84D-49FC-AFA8-20C683AB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362700"/>
            <a:ext cx="66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E059CE6-C949-4E65-B126-CCC20908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2674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B9C2D0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B9C2D0"/>
                </a:solidFill>
                <a:latin typeface="Avenir Next"/>
                <a:ea typeface="Avenir Next"/>
                <a:cs typeface="Avenir Next"/>
              </a:rPr>
              <a:t>Besoins non fonctionnels</a:t>
            </a:r>
          </a:p>
        </p:txBody>
      </p:sp>
    </p:spTree>
    <p:extLst>
      <p:ext uri="{BB962C8B-B14F-4D97-AF65-F5344CB8AC3E}">
        <p14:creationId xmlns:p14="http://schemas.microsoft.com/office/powerpoint/2010/main" val="119492332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546B25-7226-4030-8486-A42B5A2E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B46FAED-9EBB-44FF-ACCC-16FD1DB4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D828315-D778-44EA-AF49-50010D30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A6F67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0A6F67"/>
                </a:solidFill>
                <a:latin typeface="Avenir Next"/>
                <a:ea typeface="Avenir Next"/>
                <a:cs typeface="Avenir Next"/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E18D0D-712A-4E15-B941-5792231B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857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726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0E1726"/>
                </a:solidFill>
                <a:latin typeface="Georgia"/>
                <a:ea typeface="Georgia"/>
                <a:cs typeface="Georgia"/>
              </a:rPr>
              <a:t>L’architecture sépare interface, API métier et persistance.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AF9A6F-DC07-4BB6-9C7F-2B4C2F07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7429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Chaque couche porte une responsabilité claire, ce qui rend le projet plus simple à maintenir et à expliquer.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DEC4D2-3E3C-47F2-9892-91CC7041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2762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CBBFA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718E43-8369-4D1F-9F6D-599D6883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649759-FC24-44E2-8A4D-A30C2697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2457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726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E1726"/>
                </a:solidFill>
                <a:latin typeface="Avenir Next"/>
                <a:ea typeface="Avenir Next"/>
                <a:cs typeface="Avenir Next"/>
              </a:rPr>
              <a:t>Frontend React / Vite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2F8DED-0984-4CF7-A035-CF37B117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67075"/>
            <a:ext cx="2457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Router, pages, layout, appels Axios, stockage du token.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4C0297-9933-41D8-8BA2-DED35D58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4861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8D37B7-7D4C-44E1-8F19-C894A60C3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7185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6F67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A6F67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328944-237E-4AF5-A22C-BA400F57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28900"/>
            <a:ext cx="2952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CBBFA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93FF94-5E02-4922-A946-BFE3EDA7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28900"/>
            <a:ext cx="47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7C10D8-21CB-4582-861E-C7380E8F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62250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726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E1726"/>
                </a:solidFill>
                <a:latin typeface="Avenir Next"/>
                <a:ea typeface="Avenir Next"/>
                <a:cs typeface="Avenir Next"/>
              </a:rPr>
              <a:t>Backend NestJS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DC3CBB-9C9A-4760-9587-C2F6381F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38475"/>
            <a:ext cx="26479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Contrôleurs REST, services métier, DTO, guards, JWT.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F5E388-0214-4776-8F69-BCCB2DA5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86150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D663A4-0C26-4171-B388-969EC731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7185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A541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2A541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0524B5-0CB5-4DB3-9218-7B140003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57500"/>
            <a:ext cx="2476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CBBFA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917BC0-8F7D-4E3B-8DDC-FE6332F9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5750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0AAC37-594C-4768-9D6C-4ACFDBDD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90850"/>
            <a:ext cx="2171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726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E1726"/>
                </a:solidFill>
                <a:latin typeface="Avenir Next"/>
                <a:ea typeface="Avenir Next"/>
                <a:cs typeface="Avenir Next"/>
              </a:rPr>
              <a:t>PostgreSQL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7E63F8-B85C-43C5-896E-393A7D428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67075"/>
            <a:ext cx="21717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Users, UserInvitations, Contracts et dates métier.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9B38D4-1F44-4768-8C35-FDB4E6F8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76800"/>
            <a:ext cx="3190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BB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F9CCF0-AA28-4765-8343-BA596409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03872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726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0E1726"/>
                </a:solidFill>
                <a:latin typeface="Georgia"/>
                <a:ea typeface="Georgia"/>
                <a:cs typeface="Georgia"/>
              </a:rPr>
              <a:t>MailService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8E2371-D9B9-4FD2-957D-5497018F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48250"/>
            <a:ext cx="1381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Brevo API ou SMTP pour invitations et signatures.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B03B73-BAB5-4C80-9107-CA05A7BA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343400"/>
            <a:ext cx="19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D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59D650-D3D4-4414-B815-C4157719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9C2D0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B9C2D0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429701-103B-4424-B4DB-7975897A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362700"/>
            <a:ext cx="66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6DB79F-4329-4CCA-870A-1B6998F9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2674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B9C2D0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B9C2D0"/>
                </a:solidFill>
                <a:latin typeface="Avenir Next"/>
                <a:ea typeface="Avenir Next"/>
                <a:cs typeface="Avenir Next"/>
              </a:rPr>
              <a:t>Vue technique globale</a:t>
            </a:r>
          </a:p>
        </p:txBody>
      </p:sp>
    </p:spTree>
    <p:extLst>
      <p:ext uri="{BB962C8B-B14F-4D97-AF65-F5344CB8AC3E}">
        <p14:creationId xmlns:p14="http://schemas.microsoft.com/office/powerpoint/2010/main" val="66090934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2DFA92-8F36-4D2B-B5AC-4B7D01B4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CFFCCD-2C9B-4098-B157-582F2D84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321416-187C-4C33-92DD-437F2FE6A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0"/>
            <a:ext cx="276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536CB7-B766-4DF1-BDEC-28817C02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150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1309229-CB1A-4589-B8EA-2148A9A5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80B962C-C6C5-4E4E-8AC5-F1358725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8B7A6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B7A6"/>
                </a:solidFill>
                <a:latin typeface="Avenir Next"/>
                <a:ea typeface="Avenir Next"/>
                <a:cs typeface="Avenir Next"/>
              </a:rPr>
              <a:t>FLUX MÉTIER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75A6EB-6D48-4F33-9629-FCE34654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857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Les liens publics sont tokenisés sans ouvrir l’espace admin.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28F96C-F6F7-4749-9615-7B064DF0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809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C2D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B9C2D0"/>
                </a:solidFill>
                <a:latin typeface="Avenir Next"/>
                <a:ea typeface="Avenir Next"/>
                <a:cs typeface="Avenir Next"/>
              </a:rPr>
              <a:t>Deux parcours utilisent le même principe : un token opaque, une page publique ciblée, puis une action métier contrôlée côté backend.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CCD965-7CCA-4A5F-8275-308F1C5C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C6B525-C786-47F0-93C9-145D1233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47975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Invitation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B29F15-FF0C-4FA9-9D7B-6E7387BC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05100"/>
            <a:ext cx="1447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A"/>
          </a:solidFill>
          <a:ln xmlns:a="http://schemas.openxmlformats.org/drawingml/2006/main" w="9525">
            <a:solidFill>
              <a:srgbClr val="2A3B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F18915-A7B6-4E78-AA46-64A874FB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3845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Email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5E4F4A-6691-4129-B590-96FA944F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6705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B9C2D0"/>
                </a:solidFill>
                <a:latin typeface="Avenir Next"/>
                <a:ea typeface="Avenir Next"/>
                <a:cs typeface="Avenir Next"/>
              </a:defRPr>
            </a:pPr>
            <a:r>
              <a:rPr sz="660" b="0">
                <a:solidFill>
                  <a:srgbClr val="B9C2D0"/>
                </a:solidFill>
                <a:latin typeface="Avenir Next"/>
                <a:ea typeface="Avenir Next"/>
                <a:cs typeface="Avenir Next"/>
              </a:rPr>
              <a:t>admin saisit l’adresse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A49610-5489-4647-A84A-19D96A44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480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E504B9-499B-4DDE-AE1B-3D54FD5D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337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B7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8B7A6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9244AF-D7CB-4A34-8781-E48E247F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05100"/>
            <a:ext cx="1447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A"/>
          </a:solidFill>
          <a:ln xmlns:a="http://schemas.openxmlformats.org/drawingml/2006/main" w="9525">
            <a:solidFill>
              <a:srgbClr val="2A3B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7E055D-9680-4189-BF10-C6BD691E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3845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Token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7901E0-8789-4EA6-B16A-30125503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6705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B9C2D0"/>
                </a:solidFill>
                <a:latin typeface="Avenir Next"/>
                <a:ea typeface="Avenir Next"/>
                <a:cs typeface="Avenir Next"/>
              </a:defRPr>
            </a:pPr>
            <a:r>
              <a:rPr sz="660" b="0">
                <a:solidFill>
                  <a:srgbClr val="B9C2D0"/>
                </a:solidFill>
                <a:latin typeface="Avenir Next"/>
                <a:ea typeface="Avenir Next"/>
                <a:cs typeface="Avenir Next"/>
              </a:rPr>
              <a:t>hash stocké en base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223553-1B9D-4F35-8378-82DFB7C1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480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10D365-3D2D-4699-A211-1CF14768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337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B7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8B7A6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80A534-8F21-4563-8C43-09A5D34B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05100"/>
            <a:ext cx="1447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A"/>
          </a:solidFill>
          <a:ln xmlns:a="http://schemas.openxmlformats.org/drawingml/2006/main" w="9525">
            <a:solidFill>
              <a:srgbClr val="2A3B5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7DC877-C17F-4993-8C9C-48E93E1E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3845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Compte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F47BA2-7325-4370-BB67-E8AD0178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6705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B9C2D0"/>
                </a:solidFill>
                <a:latin typeface="Avenir Next"/>
                <a:ea typeface="Avenir Next"/>
                <a:cs typeface="Avenir Next"/>
              </a:defRPr>
            </a:pPr>
            <a:r>
              <a:rPr sz="660" b="0">
                <a:solidFill>
                  <a:srgbClr val="B9C2D0"/>
                </a:solidFill>
                <a:latin typeface="Avenir Next"/>
                <a:ea typeface="Avenir Next"/>
                <a:cs typeface="Avenir Next"/>
              </a:rPr>
              <a:t>username + mot de passe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B53715-D3CD-4607-A31D-E87FD289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480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78D898-6051-4C80-9DAE-613EC4D6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B7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8B7A6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58C1C0-F17E-42FF-B0B2-B251B6B1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05100"/>
            <a:ext cx="1447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A"/>
          </a:solidFill>
          <a:ln xmlns:a="http://schemas.openxmlformats.org/drawingml/2006/main" w="9525">
            <a:solidFill>
              <a:srgbClr val="2A3B5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48707E-664E-40C6-BAFD-670BE0BC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3845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Accès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DB83B1-32ED-4241-91D0-3797C6C3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6705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B9C2D0"/>
                </a:solidFill>
                <a:latin typeface="Avenir Next"/>
                <a:ea typeface="Avenir Next"/>
                <a:cs typeface="Avenir Next"/>
              </a:defRPr>
            </a:pPr>
            <a:r>
              <a:rPr sz="660" b="0">
                <a:solidFill>
                  <a:srgbClr val="B9C2D0"/>
                </a:solidFill>
                <a:latin typeface="Avenir Next"/>
                <a:ea typeface="Avenir Next"/>
                <a:cs typeface="Avenir Next"/>
              </a:rPr>
              <a:t>connexion JWT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E040E4-67DE-4084-92A0-C202B35F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E3CDAE-B6DA-42D8-ADAF-C5341640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38625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Signature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F78BE3-5E32-4AC2-867D-7A06F5BD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095750"/>
            <a:ext cx="1447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A"/>
          </a:solidFill>
          <a:ln xmlns:a="http://schemas.openxmlformats.org/drawingml/2006/main" w="9525">
            <a:solidFill>
              <a:srgbClr val="2A3B5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9249FA-110D-458C-8A8E-B66F94C5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291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Contrat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359998-6718-426C-9737-2F141734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5770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B9C2D0"/>
                </a:solidFill>
                <a:latin typeface="Avenir Next"/>
                <a:ea typeface="Avenir Next"/>
                <a:cs typeface="Avenir Next"/>
              </a:defRPr>
            </a:pPr>
            <a:r>
              <a:rPr sz="660" b="0">
                <a:solidFill>
                  <a:srgbClr val="B9C2D0"/>
                </a:solidFill>
                <a:latin typeface="Avenir Next"/>
                <a:ea typeface="Avenir Next"/>
                <a:cs typeface="Avenir Next"/>
              </a:rPr>
              <a:t>création ou renvoi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3D88B1-DAC0-439D-86A7-48134768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4386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52199F-9338-4064-9C05-E19CFDB2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2435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A541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2A541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F58D76-8DB2-4F95-975F-81F18F0A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95750"/>
            <a:ext cx="1447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A"/>
          </a:solidFill>
          <a:ln xmlns:a="http://schemas.openxmlformats.org/drawingml/2006/main" w="9525">
            <a:solidFill>
              <a:srgbClr val="2A3B5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90BAC3-3D2F-4FA8-80C5-22F518AF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291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Email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6FB76D9-54B4-4368-85B6-367F16E3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5770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B9C2D0"/>
                </a:solidFill>
                <a:latin typeface="Avenir Next"/>
                <a:ea typeface="Avenir Next"/>
                <a:cs typeface="Avenir Next"/>
              </a:defRPr>
            </a:pPr>
            <a:r>
              <a:rPr sz="660" b="0">
                <a:solidFill>
                  <a:srgbClr val="B9C2D0"/>
                </a:solidFill>
                <a:latin typeface="Avenir Next"/>
                <a:ea typeface="Avenir Next"/>
                <a:cs typeface="Avenir Next"/>
              </a:rPr>
              <a:t>lien client sécurisé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0C8CCD-8AA6-4F9C-9140-89D41E0E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386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E92F023-0C0C-47FE-8E54-8CEFA73E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2435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A541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2A541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BDD8651-655C-4502-9752-F419D2FA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95750"/>
            <a:ext cx="1447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A"/>
          </a:solidFill>
          <a:ln xmlns:a="http://schemas.openxmlformats.org/drawingml/2006/main" w="9525">
            <a:solidFill>
              <a:srgbClr val="2A3B5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9ACFFF-E8B6-413A-9AC2-D1C9458D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291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Page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76F77B3-A072-497D-9EBE-4FB40FF0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5770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B9C2D0"/>
                </a:solidFill>
                <a:latin typeface="Avenir Next"/>
                <a:ea typeface="Avenir Next"/>
                <a:cs typeface="Avenir Next"/>
              </a:defRPr>
            </a:pPr>
            <a:r>
              <a:rPr sz="660" b="0">
                <a:solidFill>
                  <a:srgbClr val="B9C2D0"/>
                </a:solidFill>
                <a:latin typeface="Avenir Next"/>
                <a:ea typeface="Avenir Next"/>
                <a:cs typeface="Avenir Next"/>
              </a:rPr>
              <a:t>signature publique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438E6A7-0D3E-48CE-AB83-A7B02FAE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386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B339607-C9B1-44BD-BBEC-1D518041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2435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A541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2A541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5566CA6-F3A5-48D0-93E7-71755BAE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095750"/>
            <a:ext cx="1447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A"/>
          </a:solidFill>
          <a:ln xmlns:a="http://schemas.openxmlformats.org/drawingml/2006/main" w="9525">
            <a:solidFill>
              <a:srgbClr val="2A3B5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4EBDC6C-9190-4228-B326-3D505300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291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Statut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334DD55-A800-41B3-A98B-41B1C67C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5770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B9C2D0"/>
                </a:solidFill>
                <a:latin typeface="Avenir Next"/>
                <a:ea typeface="Avenir Next"/>
                <a:cs typeface="Avenir Next"/>
              </a:defRPr>
            </a:pPr>
            <a:r>
              <a:rPr sz="660" b="0">
                <a:solidFill>
                  <a:srgbClr val="B9C2D0"/>
                </a:solidFill>
                <a:latin typeface="Avenir Next"/>
                <a:ea typeface="Avenir Next"/>
                <a:cs typeface="Avenir Next"/>
              </a:rPr>
              <a:t>contrat signé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3A5C033-E8CD-433E-8679-8606EE52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DEBB517-4F0F-46B2-92F0-7FC658EE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9C2D0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B9C2D0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A0D6DB6-D549-4726-ADBF-416817BD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362700"/>
            <a:ext cx="66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3A198A6-48A5-4343-B039-95A11154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2674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B9C2D0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B9C2D0"/>
                </a:solidFill>
                <a:latin typeface="Avenir Next"/>
                <a:ea typeface="Avenir Next"/>
                <a:cs typeface="Avenir Next"/>
              </a:rPr>
              <a:t>Parcours invitation et signature</a:t>
            </a:r>
          </a:p>
        </p:txBody>
      </p:sp>
    </p:spTree>
    <p:extLst>
      <p:ext uri="{BB962C8B-B14F-4D97-AF65-F5344CB8AC3E}">
        <p14:creationId xmlns:p14="http://schemas.microsoft.com/office/powerpoint/2010/main" val="173978292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3AA0A8-ED25-4FDE-B964-6C92598A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3E792DC-333E-4384-B670-94C11BFA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74567D5-05CA-4AD7-8EF0-30B26B51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A6F67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0A6F67"/>
                </a:solidFill>
                <a:latin typeface="Avenir Next"/>
                <a:ea typeface="Avenir Next"/>
                <a:cs typeface="Avenir Next"/>
              </a:rPr>
              <a:t>SÉCURITÉ &amp; DONNÉES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09A640-C86D-4015-BF38-ED040898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857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726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0E1726"/>
                </a:solidFill>
                <a:latin typeface="Georgia"/>
                <a:ea typeface="Georgia"/>
                <a:cs typeface="Georgia"/>
              </a:rPr>
              <a:t>Le modèle protège les accès tout en gardant les liens simples.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035EA8-7795-44CD-A764-A4C040EF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28765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BB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79BC61-FD39-4580-91A8-09629661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2876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22A947-B019-4BB8-AF46-91AC21E6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1726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0E1726"/>
                </a:solidFill>
                <a:latin typeface="Georgia"/>
                <a:ea typeface="Georgia"/>
                <a:cs typeface="Georgia"/>
              </a:rPr>
              <a:t>User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5FEA0B-4A6E-40BC-91CE-88E4004A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0"/>
            <a:ext cx="2190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role ADMIN/USER</a:t>
            </a:r>
          </a:p>
          <a:p xmlns:a="http://schemas.openxmlformats.org/drawingml/2006/main">
            <a:pPr algn="l">
              <a:defRPr sz="1125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password hashé</a:t>
            </a:r>
          </a:p>
          <a:p xmlns:a="http://schemas.openxmlformats.org/drawingml/2006/main">
            <a:pPr algn="l">
              <a:defRPr sz="1125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profil JWT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25EF5E-53E1-4E6B-8CC1-F107B3B1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47900"/>
            <a:ext cx="28765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BB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FE69EE-87CF-468C-B028-A46F3ED8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47900"/>
            <a:ext cx="2876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15176E-142C-40D5-A9F8-3213EA6B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527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1726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0E1726"/>
                </a:solidFill>
                <a:latin typeface="Georgia"/>
                <a:ea typeface="Georgia"/>
                <a:cs typeface="Georgia"/>
              </a:rPr>
              <a:t>UserInvitation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75EBCF-FB49-412F-90F2-60C6411B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48000"/>
            <a:ext cx="2190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email invité</a:t>
            </a:r>
          </a:p>
          <a:p xmlns:a="http://schemas.openxmlformats.org/drawingml/2006/main">
            <a:pPr algn="l">
              <a:defRPr sz="1125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token hash SHA-256</a:t>
            </a:r>
          </a:p>
          <a:p xmlns:a="http://schemas.openxmlformats.org/drawingml/2006/main">
            <a:pPr algn="l">
              <a:defRPr sz="1125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expiration 7 jours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A49904-4840-48D6-96AA-0562BE05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47900"/>
            <a:ext cx="28765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BB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D40080-3EAC-431F-8766-B7041DC1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47900"/>
            <a:ext cx="2876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DD63E3-1C64-49AA-A792-AF7F6C93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527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1726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0E1726"/>
                </a:solidFill>
                <a:latin typeface="Georgia"/>
                <a:ea typeface="Georgia"/>
                <a:cs typeface="Georgia"/>
              </a:rPr>
              <a:t>Contract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B99932-877A-41A9-A091-AF05ADA3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48000"/>
            <a:ext cx="2190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statut métier</a:t>
            </a:r>
          </a:p>
          <a:p xmlns:a="http://schemas.openxmlformats.org/drawingml/2006/main">
            <a:pPr algn="l">
              <a:defRPr sz="1125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token signature</a:t>
            </a:r>
          </a:p>
          <a:p xmlns:a="http://schemas.openxmlformats.org/drawingml/2006/main">
            <a:pPr algn="l">
              <a:defRPr sz="1125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signature client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028D78-4D8C-4FEC-9B5E-17661857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8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53A08F-D215-4B66-912A-D0034324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5780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1726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0E1726"/>
                </a:solidFill>
                <a:latin typeface="Georgia"/>
                <a:ea typeface="Georgia"/>
                <a:cs typeface="Georgia"/>
              </a:rPr>
              <a:t>Contrôles transverses : ValidationPipe • RolesGuard • JwtAuthGuard • bcrypt • réponses sans mot de passe.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CBB4ED-B8A6-4C60-94E4-D10426D2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9C2D0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B9C2D0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911CEA-A8AA-4FA6-A14E-28E679F4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362700"/>
            <a:ext cx="66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765E89-983F-40A3-92F8-744EBA45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2674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B9C2D0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B9C2D0"/>
                </a:solidFill>
                <a:latin typeface="Avenir Next"/>
                <a:ea typeface="Avenir Next"/>
                <a:cs typeface="Avenir Next"/>
              </a:rPr>
              <a:t>Entités principales et sécurité</a:t>
            </a:r>
          </a:p>
        </p:txBody>
      </p:sp>
    </p:spTree>
    <p:extLst>
      <p:ext uri="{BB962C8B-B14F-4D97-AF65-F5344CB8AC3E}">
        <p14:creationId xmlns:p14="http://schemas.microsoft.com/office/powerpoint/2010/main" val="88079024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85F485-7B2A-465A-90CC-769004F6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D64C3D-CC06-4414-870F-91E5A099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E2F3E8-A805-4C45-B098-3A621B11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0"/>
            <a:ext cx="276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80CA53-CF50-4CD7-96C6-D6C5F0C6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150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CC39D58-4E34-4C38-85F0-D1F361FE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C1EDD1E-5851-4331-B84E-237F150A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8B7A6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B7A6"/>
                </a:solidFill>
                <a:latin typeface="Avenir Next"/>
                <a:ea typeface="Avenir Next"/>
                <a:cs typeface="Avenir Next"/>
              </a:rPr>
              <a:t>NAVIGATION DU 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97E947-12CC-4B7C-98F3-017354C6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La structure du dépôt suit les domaines métier.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BBA31A-D796-48E1-9263-44AB236E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4762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A"/>
          </a:solidFill>
          <a:ln xmlns:a="http://schemas.openxmlformats.org/drawingml/2006/main" w="9525">
            <a:solidFill>
              <a:srgbClr val="2A3B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725B84-97CF-4703-B564-FB0D6BAA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476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0932E3-F1F1-4954-909D-201255EF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241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backend/src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149ADE-8828-43C5-8DF9-EC06B174B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00350"/>
            <a:ext cx="3524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C2D0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B9C2D0"/>
                </a:solidFill>
                <a:latin typeface="Aptos Mono"/>
                <a:ea typeface="Aptos Mono"/>
                <a:cs typeface="Aptos Mono"/>
              </a:rPr>
              <a:t>auth/</a:t>
            </a:r>
          </a:p>
          <a:p xmlns:a="http://schemas.openxmlformats.org/drawingml/2006/main">
            <a:pPr algn="l">
              <a:defRPr sz="1275" b="0">
                <a:solidFill>
                  <a:srgbClr val="B9C2D0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B9C2D0"/>
                </a:solidFill>
                <a:latin typeface="Aptos Mono"/>
                <a:ea typeface="Aptos Mono"/>
                <a:cs typeface="Aptos Mono"/>
              </a:rPr>
              <a:t>  JWT, login, invitation</a:t>
            </a:r>
          </a:p>
          <a:p xmlns:a="http://schemas.openxmlformats.org/drawingml/2006/main">
            <a:pPr algn="l">
              <a:defRPr sz="1275" b="0">
                <a:solidFill>
                  <a:srgbClr val="B9C2D0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B9C2D0"/>
                </a:solidFill>
                <a:latin typeface="Aptos Mono"/>
                <a:ea typeface="Aptos Mono"/>
                <a:cs typeface="Aptos Mono"/>
              </a:rPr>
              <a:t>users/</a:t>
            </a:r>
          </a:p>
          <a:p xmlns:a="http://schemas.openxmlformats.org/drawingml/2006/main">
            <a:pPr algn="l">
              <a:defRPr sz="1275" b="0">
                <a:solidFill>
                  <a:srgbClr val="B9C2D0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B9C2D0"/>
                </a:solidFill>
                <a:latin typeface="Aptos Mono"/>
                <a:ea typeface="Aptos Mono"/>
                <a:cs typeface="Aptos Mono"/>
              </a:rPr>
              <a:t>  comptes, rôles, invitations</a:t>
            </a:r>
          </a:p>
          <a:p xmlns:a="http://schemas.openxmlformats.org/drawingml/2006/main">
            <a:pPr algn="l">
              <a:defRPr sz="1275" b="0">
                <a:solidFill>
                  <a:srgbClr val="B9C2D0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B9C2D0"/>
                </a:solidFill>
                <a:latin typeface="Aptos Mono"/>
                <a:ea typeface="Aptos Mono"/>
                <a:cs typeface="Aptos Mono"/>
              </a:rPr>
              <a:t>contracts/</a:t>
            </a:r>
          </a:p>
          <a:p xmlns:a="http://schemas.openxmlformats.org/drawingml/2006/main">
            <a:pPr algn="l">
              <a:defRPr sz="1275" b="0">
                <a:solidFill>
                  <a:srgbClr val="B9C2D0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B9C2D0"/>
                </a:solidFill>
                <a:latin typeface="Aptos Mono"/>
                <a:ea typeface="Aptos Mono"/>
                <a:cs typeface="Aptos Mono"/>
              </a:rPr>
              <a:t>  CRUD, signature, PDF/HTML</a:t>
            </a:r>
          </a:p>
          <a:p xmlns:a="http://schemas.openxmlformats.org/drawingml/2006/main">
            <a:pPr algn="l">
              <a:defRPr sz="1275" b="0">
                <a:solidFill>
                  <a:srgbClr val="B9C2D0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B9C2D0"/>
                </a:solidFill>
                <a:latin typeface="Aptos Mono"/>
                <a:ea typeface="Aptos Mono"/>
                <a:cs typeface="Aptos Mono"/>
              </a:rPr>
              <a:t>mail/</a:t>
            </a:r>
          </a:p>
          <a:p xmlns:a="http://schemas.openxmlformats.org/drawingml/2006/main">
            <a:pPr algn="l">
              <a:defRPr sz="1275" b="0">
                <a:solidFill>
                  <a:srgbClr val="B9C2D0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B9C2D0"/>
                </a:solidFill>
                <a:latin typeface="Aptos Mono"/>
                <a:ea typeface="Aptos Mono"/>
                <a:cs typeface="Aptos Mono"/>
              </a:rPr>
              <a:t>  Brevo ou SMTP</a:t>
            </a:r>
          </a:p>
          <a:p xmlns:a="http://schemas.openxmlformats.org/drawingml/2006/main">
            <a:pPr algn="l">
              <a:defRPr sz="1275" b="0">
                <a:solidFill>
                  <a:srgbClr val="B9C2D0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B9C2D0"/>
                </a:solidFill>
                <a:latin typeface="Aptos Mono"/>
                <a:ea typeface="Aptos Mono"/>
                <a:cs typeface="Aptos Mono"/>
              </a:rPr>
              <a:t>common/</a:t>
            </a:r>
          </a:p>
          <a:p xmlns:a="http://schemas.openxmlformats.org/drawingml/2006/main">
            <a:pPr algn="l">
              <a:defRPr sz="1275" b="0">
                <a:solidFill>
                  <a:srgbClr val="B9C2D0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B9C2D0"/>
                </a:solidFill>
                <a:latin typeface="Aptos Mono"/>
                <a:ea typeface="Aptos Mono"/>
                <a:cs typeface="Aptos Mono"/>
              </a:rPr>
              <a:t>  guards, enums, decorators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4E158A-B691-444D-B345-461E48C9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38350"/>
            <a:ext cx="4762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A"/>
          </a:solidFill>
          <a:ln xmlns:a="http://schemas.openxmlformats.org/drawingml/2006/main" w="9525">
            <a:solidFill>
              <a:srgbClr val="2A3B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7E9876-D503-48A6-AE36-5915EC79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38350"/>
            <a:ext cx="476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54BC3F-0ED2-469E-8552-4A328B12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241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frontend/src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7D0B32-E4D5-45CF-A447-16049913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00350"/>
            <a:ext cx="3619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C2D0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B9C2D0"/>
                </a:solidFill>
                <a:latin typeface="Aptos Mono"/>
                <a:ea typeface="Aptos Mono"/>
                <a:cs typeface="Aptos Mono"/>
              </a:rPr>
              <a:t>app/router.tsx</a:t>
            </a:r>
          </a:p>
          <a:p xmlns:a="http://schemas.openxmlformats.org/drawingml/2006/main">
            <a:pPr algn="l">
              <a:defRPr sz="1275" b="0">
                <a:solidFill>
                  <a:srgbClr val="B9C2D0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B9C2D0"/>
                </a:solidFill>
                <a:latin typeface="Aptos Mono"/>
                <a:ea typeface="Aptos Mono"/>
                <a:cs typeface="Aptos Mono"/>
              </a:rPr>
              <a:t>  routes et protections</a:t>
            </a:r>
          </a:p>
          <a:p xmlns:a="http://schemas.openxmlformats.org/drawingml/2006/main">
            <a:pPr algn="l">
              <a:defRPr sz="1275" b="0">
                <a:solidFill>
                  <a:srgbClr val="B9C2D0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B9C2D0"/>
                </a:solidFill>
                <a:latin typeface="Aptos Mono"/>
                <a:ea typeface="Aptos Mono"/>
                <a:cs typeface="Aptos Mono"/>
              </a:rPr>
              <a:t>lib/axios.ts</a:t>
            </a:r>
          </a:p>
          <a:p xmlns:a="http://schemas.openxmlformats.org/drawingml/2006/main">
            <a:pPr algn="l">
              <a:defRPr sz="1275" b="0">
                <a:solidFill>
                  <a:srgbClr val="B9C2D0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B9C2D0"/>
                </a:solidFill>
                <a:latin typeface="Aptos Mono"/>
                <a:ea typeface="Aptos Mono"/>
                <a:cs typeface="Aptos Mono"/>
              </a:rPr>
              <a:t>  base URL + token</a:t>
            </a:r>
          </a:p>
          <a:p xmlns:a="http://schemas.openxmlformats.org/drawingml/2006/main">
            <a:pPr algn="l">
              <a:defRPr sz="1275" b="0">
                <a:solidFill>
                  <a:srgbClr val="B9C2D0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B9C2D0"/>
                </a:solidFill>
                <a:latin typeface="Aptos Mono"/>
                <a:ea typeface="Aptos Mono"/>
                <a:cs typeface="Aptos Mono"/>
              </a:rPr>
              <a:t>features/auth</a:t>
            </a:r>
          </a:p>
          <a:p xmlns:a="http://schemas.openxmlformats.org/drawingml/2006/main">
            <a:pPr algn="l">
              <a:defRPr sz="1275" b="0">
                <a:solidFill>
                  <a:srgbClr val="B9C2D0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B9C2D0"/>
                </a:solidFill>
                <a:latin typeface="Aptos Mono"/>
                <a:ea typeface="Aptos Mono"/>
                <a:cs typeface="Aptos Mono"/>
              </a:rPr>
              <a:t>  login + inscription invitation</a:t>
            </a:r>
          </a:p>
          <a:p xmlns:a="http://schemas.openxmlformats.org/drawingml/2006/main">
            <a:pPr algn="l">
              <a:defRPr sz="1275" b="0">
                <a:solidFill>
                  <a:srgbClr val="B9C2D0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B9C2D0"/>
                </a:solidFill>
                <a:latin typeface="Aptos Mono"/>
                <a:ea typeface="Aptos Mono"/>
                <a:cs typeface="Aptos Mono"/>
              </a:rPr>
              <a:t>features/users</a:t>
            </a:r>
          </a:p>
          <a:p xmlns:a="http://schemas.openxmlformats.org/drawingml/2006/main">
            <a:pPr algn="l">
              <a:defRPr sz="1275" b="0">
                <a:solidFill>
                  <a:srgbClr val="B9C2D0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B9C2D0"/>
                </a:solidFill>
                <a:latin typeface="Aptos Mono"/>
                <a:ea typeface="Aptos Mono"/>
                <a:cs typeface="Aptos Mono"/>
              </a:rPr>
              <a:t>  administration</a:t>
            </a:r>
          </a:p>
          <a:p xmlns:a="http://schemas.openxmlformats.org/drawingml/2006/main">
            <a:pPr algn="l">
              <a:defRPr sz="1275" b="0">
                <a:solidFill>
                  <a:srgbClr val="B9C2D0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B9C2D0"/>
                </a:solidFill>
                <a:latin typeface="Aptos Mono"/>
                <a:ea typeface="Aptos Mono"/>
                <a:cs typeface="Aptos Mono"/>
              </a:rPr>
              <a:t>features/contracts</a:t>
            </a:r>
          </a:p>
          <a:p xmlns:a="http://schemas.openxmlformats.org/drawingml/2006/main">
            <a:pPr algn="l">
              <a:defRPr sz="1275" b="0">
                <a:solidFill>
                  <a:srgbClr val="B9C2D0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B9C2D0"/>
                </a:solidFill>
                <a:latin typeface="Aptos Mono"/>
                <a:ea typeface="Aptos Mono"/>
                <a:cs typeface="Aptos Mono"/>
              </a:rPr>
              <a:t>  pages contrat + signature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8F9B6D-C545-4994-AFC5-D4C42E3F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9C2D0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B9C2D0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7CCB38-096E-40F7-B18F-A2B3D50C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362700"/>
            <a:ext cx="66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52E5CD-FC82-423B-9581-636A39BF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2674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B9C2D0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B9C2D0"/>
                </a:solidFill>
                <a:latin typeface="Avenir Next"/>
                <a:ea typeface="Avenir Next"/>
                <a:cs typeface="Avenir Next"/>
              </a:rPr>
              <a:t>Arbre des fichiers résumé</a:t>
            </a:r>
          </a:p>
        </p:txBody>
      </p:sp>
    </p:spTree>
    <p:extLst>
      <p:ext uri="{BB962C8B-B14F-4D97-AF65-F5344CB8AC3E}">
        <p14:creationId xmlns:p14="http://schemas.microsoft.com/office/powerpoint/2010/main" val="66051632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6D5146-04C3-46D2-8595-A4CEE096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E97645-E148-41C8-B1AC-A565D8E5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B1D02D-AABD-4698-B462-D6B12D97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0"/>
            <a:ext cx="276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0F5474-C949-4EA8-B57B-464F8D5F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150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47C2865-82C2-40EF-A2B6-D3BC668E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19CB09A-716A-4D85-AA27-7CE34E8A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8B7A6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B7A6"/>
                </a:solidFill>
                <a:latin typeface="Avenir Next"/>
                <a:ea typeface="Avenir Next"/>
                <a:cs typeface="Avenir Next"/>
              </a:rPr>
              <a:t>CONCLUSION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18874A-D71C-4A66-BBE3-EC98A27E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7429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Une base solide pour gérer, signer et faire évoluer les contrats.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4DEE5E-C2A9-449F-9101-A35249CB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685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C2D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B9C2D0"/>
                </a:solidFill>
                <a:latin typeface="Avenir Next"/>
                <a:ea typeface="Avenir Next"/>
                <a:cs typeface="Avenir Next"/>
              </a:rPr>
              <a:t>Le projet présente une séparation claire des responsabilités, des flux sécurisés et une organisation de code qui facilite les améliorations futures.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4D6775-3829-4013-B7FE-5717C58B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14800"/>
            <a:ext cx="285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9AE812-0E98-4BEB-A585-388016E4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020B49-17E1-4E13-8ED5-E25A152B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577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B9C2D0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B9C2D0"/>
                </a:solidFill>
                <a:latin typeface="Avenir Next"/>
                <a:ea typeface="Avenir Next"/>
                <a:cs typeface="Avenir Next"/>
              </a:rPr>
              <a:t>plateforme centralisée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1DB918-A9C1-4D89-B0C9-78A727AD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14800"/>
            <a:ext cx="285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629C9F-4136-4BF4-BED3-F39C9E75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0957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FB9C91-7467-476E-8E0C-51518E29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4577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B9C2D0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B9C2D0"/>
                </a:solidFill>
                <a:latin typeface="Avenir Next"/>
                <a:ea typeface="Avenir Next"/>
                <a:cs typeface="Avenir Next"/>
              </a:rPr>
              <a:t>parcours publics sécurisés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6DAE1E-B7C2-4E91-8C53-E62F0014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14800"/>
            <a:ext cx="285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52CB15-71B2-4CDB-9C9A-DE0CEBA3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957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9E2F31-25F7-40ED-A347-BB427604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4577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B9C2D0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B9C2D0"/>
                </a:solidFill>
                <a:latin typeface="Avenir Next"/>
                <a:ea typeface="Avenir Next"/>
                <a:cs typeface="Avenir Next"/>
              </a:rPr>
              <a:t>axes d’évolution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020766-D9C9-43D3-BA5A-074BF9F5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047750"/>
            <a:ext cx="25146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C"/>
          </a:solidFill>
          <a:ln xmlns:a="http://schemas.openxmlformats.org/drawingml/2006/main" w="9525">
            <a:solidFill>
              <a:srgbClr val="2E415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2426D8-1877-4D31-9814-825E2039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047750"/>
            <a:ext cx="25146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B44DF8-D5B1-460D-867F-2608B832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3335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À défendre devant le jury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4250BD-8EB0-4E12-B6AF-29382C24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114550"/>
            <a:ext cx="1943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C2D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B9C2D0"/>
                </a:solidFill>
                <a:latin typeface="Avenir Next"/>
                <a:ea typeface="Avenir Next"/>
                <a:cs typeface="Avenir Next"/>
              </a:rPr>
              <a:t>• Cohérence architecture</a:t>
            </a:r>
          </a:p>
          <a:p xmlns:a="http://schemas.openxmlformats.org/drawingml/2006/main">
            <a:pPr algn="l">
              <a:defRPr sz="1125" b="0">
                <a:solidFill>
                  <a:srgbClr val="B9C2D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B9C2D0"/>
                </a:solidFill>
                <a:latin typeface="Avenir Next"/>
                <a:ea typeface="Avenir Next"/>
                <a:cs typeface="Avenir Next"/>
              </a:rPr>
              <a:t>• Sécurité des accès</a:t>
            </a:r>
          </a:p>
          <a:p xmlns:a="http://schemas.openxmlformats.org/drawingml/2006/main">
            <a:pPr algn="l">
              <a:defRPr sz="1125" b="0">
                <a:solidFill>
                  <a:srgbClr val="B9C2D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B9C2D0"/>
                </a:solidFill>
                <a:latin typeface="Avenir Next"/>
                <a:ea typeface="Avenir Next"/>
                <a:cs typeface="Avenir Next"/>
              </a:rPr>
              <a:t>• Automatisation email</a:t>
            </a:r>
          </a:p>
          <a:p xmlns:a="http://schemas.openxmlformats.org/drawingml/2006/main">
            <a:pPr algn="l">
              <a:defRPr sz="1125" b="0">
                <a:solidFill>
                  <a:srgbClr val="B9C2D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B9C2D0"/>
                </a:solidFill>
                <a:latin typeface="Avenir Next"/>
                <a:ea typeface="Avenir Next"/>
                <a:cs typeface="Avenir Next"/>
              </a:rPr>
              <a:t>• Parcours utilisateur simple</a:t>
            </a:r>
          </a:p>
          <a:p xmlns:a="http://schemas.openxmlformats.org/drawingml/2006/main">
            <a:pPr algn="l">
              <a:defRPr sz="1125" b="0">
                <a:solidFill>
                  <a:srgbClr val="B9C2D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B9C2D0"/>
                </a:solidFill>
                <a:latin typeface="Avenir Next"/>
                <a:ea typeface="Avenir Next"/>
                <a:cs typeface="Avenir Next"/>
              </a:rPr>
              <a:t>• Code maintenable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0CC2E7-4F3E-4575-9C88-61E2B4B2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857625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Merci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21EEF5-D603-4261-8662-B25ABFB0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9C2D0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B9C2D0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B75109-7BA7-4CF5-B714-D6ACAE2F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362700"/>
            <a:ext cx="66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8C5068-D264-48C3-B68B-7FFCB72A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2674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B9C2D0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B9C2D0"/>
                </a:solidFill>
                <a:latin typeface="Avenir Next"/>
                <a:ea typeface="Avenir Next"/>
                <a:cs typeface="Avenir Next"/>
              </a:rPr>
              <a:t>Fin de présentation</a:t>
            </a:r>
          </a:p>
        </p:txBody>
      </p:sp>
    </p:spTree>
    <p:extLst>
      <p:ext uri="{BB962C8B-B14F-4D97-AF65-F5344CB8AC3E}">
        <p14:creationId xmlns:p14="http://schemas.microsoft.com/office/powerpoint/2010/main" val="1781484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2026-05-08T23:44:40.8850000Z</dcterms:created>
  <dcterms:modified xsi:type="dcterms:W3CDTF">2026-05-08T23:44:40.8850000Z</dcterms:modified>
</coreProperties>
</file>